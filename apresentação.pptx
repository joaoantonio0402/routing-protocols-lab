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>
        <p:scale>
          <a:sx n="70" d="100"/>
          <a:sy n="70" d="100"/>
        </p:scale>
        <p:origin x="72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233BB-E414-8AD0-F327-E324326E8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724ED-0224-3702-1DA2-D5CFADB50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F8A01A-0DC6-A266-C46C-EA8A4C2E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7AFAD2-F580-C64F-422C-8ED35D16B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7F646F-D4AE-8E7C-C414-684B094C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63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03A72-EF78-8052-9F5B-295CFEB1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FEE14-A302-80CD-CBAB-7CFC3F6E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972AC2-86C7-D8B6-D9A2-38CCB8EB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7DCE1F-81BA-E54F-0549-42E37084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89F128-F71E-DC57-615E-C7E5840B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7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EFECE-85F7-1DBE-8266-0F0EBBCB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DD4137-A172-6441-DFE7-C835E2A61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DCCE06-C543-A75D-BB3A-7BF7DF0F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8A30F1-AC05-5568-9651-331B9AED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14A839-4558-C037-C787-C52EBBFC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90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62504-5A52-2759-612B-4B8715D0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2BED0B-FFA7-AA53-1D35-BB9B27055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0C81F1-237D-2591-DC8C-428F5FDA0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8D1151-EC9E-00EC-DE00-350E626C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88F43E-F4BC-6746-5E3D-748CBCAF4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D6D711-B065-1985-1E8C-758A6D20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85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31626-DEF2-2F44-431D-15136901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3B06A6-95E8-0650-94FD-3197C8A84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7F3074-284A-5EA5-344E-71DE289E6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FD5457-7E88-56AE-0988-557F240ED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220988-46F0-DC50-27F9-C20EAF348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1DF7F2-408B-D87A-2A07-47393B15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E6BD476-3D25-57B0-1E36-BE0A1DCC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EB42FF-15DA-B8ED-A96E-7ECACE98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555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16E40-7876-4555-2AC6-A62F4AE6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E8DE6A-1A5D-8FF8-A1D2-F8264895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FF514F6-CFA3-6B53-CAD4-5DEF35E2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12459C-1405-584F-B175-75D22AE1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323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F43F46-C367-CC3A-C604-2CEB6B89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95D284-8E46-FB5F-0645-1B4B98C9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001BFA-4CA2-0B67-3600-C040179F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657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F1D18-96B2-2129-230F-96363D44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B98F41-E5EB-5E8E-0C7E-1EB0D1FFF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3788D0-E696-E952-0324-ED29D5248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692316-1DFD-FEB8-711F-EAFDA42C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F3B31C-8C00-A816-B466-EFDBBED3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B0A0F1-F979-C03D-5215-271F3C17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70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F5B65-6EBF-1425-780B-E375EE5A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F82FC82-21A6-93F9-3C76-099D4A94DF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4FADEC-5750-1AE1-FF03-8BA1BC1EF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4C9A36-F2D0-9A38-1A7F-67A16700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C7180B-210C-BDEB-27DA-DE57D18C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EBCC30-57FC-7224-CC1B-B3124C5D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12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D28B4-8076-0081-3A77-D9865D73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C22817-A245-E7D7-2DE3-BFC4FB53C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1CF61D-9110-257D-4338-9151C058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90D27A-E5B3-8486-AC19-6A8B25CF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CCDAC8-1314-B7EE-BEEC-7ABB5B0A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3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291C15-AFE3-0D41-DB71-D3FB0D100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78CAB7-F308-1BC2-9D9A-E2AE953D7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38279-C4AB-ED83-C10C-636CE01F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EC3548-A026-5229-6103-CC634C33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685B2F-8F14-218F-032D-3A34C010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7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A589B2-A155-3D09-F4AE-1314F1D0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E3B50C-D57C-1FF9-3ACE-96C426F80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132DEA-615F-72A6-F84A-23FF95A21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20A03-3327-4D31-98D2-ADAEA670A01E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0AE28-73F2-B614-2E2E-C55D0E7B2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24651F-DFA4-3A65-798C-6CD2E732C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59F58-6AD2-4BE6-8A5F-93336C8202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8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1B661-B56F-AB5F-B038-E1A172451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kern="0" spc="-17" dirty="0" err="1">
                <a:solidFill>
                  <a:srgbClr val="1B4A9B"/>
                </a:solidFill>
                <a:latin typeface="Arial Black" panose="020B0A04020102020204" pitchFamily="34" charset="0"/>
                <a:cs typeface="Noto Serif Devanagari ExtraBold" pitchFamily="34" charset="-120"/>
              </a:rPr>
              <a:t>Protocolos</a:t>
            </a:r>
            <a:r>
              <a:rPr lang="en-US" kern="0" spc="-17" dirty="0">
                <a:solidFill>
                  <a:srgbClr val="1B4A9B"/>
                </a:solidFill>
                <a:latin typeface="Arial Black" panose="020B0A04020102020204" pitchFamily="34" charset="0"/>
                <a:cs typeface="Noto Serif Devanagari ExtraBold" pitchFamily="34" charset="-120"/>
              </a:rPr>
              <a:t> de </a:t>
            </a:r>
            <a:r>
              <a:rPr lang="en-US" kern="0" spc="-17" dirty="0" err="1">
                <a:solidFill>
                  <a:srgbClr val="1B4A9B"/>
                </a:solidFill>
                <a:latin typeface="Arial Black" panose="020B0A04020102020204" pitchFamily="34" charset="0"/>
                <a:cs typeface="Noto Serif Devanagari ExtraBold" pitchFamily="34" charset="-120"/>
              </a:rPr>
              <a:t>Roteamento</a:t>
            </a:r>
            <a:endParaRPr lang="pt-BR" dirty="0"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65D789-4F66-393E-847A-4D3AB4011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João Antônio Astolfi Gonçalves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Disciplina de Redes</a:t>
            </a:r>
          </a:p>
        </p:txBody>
      </p:sp>
    </p:spTree>
    <p:extLst>
      <p:ext uri="{BB962C8B-B14F-4D97-AF65-F5344CB8AC3E}">
        <p14:creationId xmlns:p14="http://schemas.microsoft.com/office/powerpoint/2010/main" val="3413487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DCE9E53-BD99-5F8B-3798-04285042EBD3}"/>
              </a:ext>
            </a:extLst>
          </p:cNvPr>
          <p:cNvSpPr/>
          <p:nvPr/>
        </p:nvSpPr>
        <p:spPr>
          <a:xfrm>
            <a:off x="963547" y="681037"/>
            <a:ext cx="1097252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 err="1">
                <a:solidFill>
                  <a:srgbClr val="1B4A9B"/>
                </a:solidFill>
                <a:latin typeface="Noto Serif Devanagari ExtraBold" pitchFamily="34" charset="0"/>
                <a:cs typeface="Noto Serif Devanagari ExtraBold" pitchFamily="34" charset="-120"/>
              </a:rPr>
              <a:t>Proposta</a:t>
            </a: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cs typeface="Noto Serif Devanagari ExtraBold" pitchFamily="34" charset="-120"/>
              </a:rPr>
              <a:t> do </a:t>
            </a:r>
            <a:r>
              <a:rPr lang="en-US" sz="3400" kern="0" spc="-17" dirty="0" err="1">
                <a:solidFill>
                  <a:srgbClr val="1B4A9B"/>
                </a:solidFill>
                <a:latin typeface="Noto Serif Devanagari ExtraBold" pitchFamily="34" charset="0"/>
                <a:cs typeface="Noto Serif Devanagari ExtraBold" pitchFamily="34" charset="-120"/>
              </a:rPr>
              <a:t>Trabalho</a:t>
            </a:r>
            <a:endParaRPr lang="en-US" sz="34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CB77F72-877A-E892-1CF9-09C308DFA345}"/>
              </a:ext>
            </a:extLst>
          </p:cNvPr>
          <p:cNvSpPr/>
          <p:nvPr/>
        </p:nvSpPr>
        <p:spPr>
          <a:xfrm>
            <a:off x="963547" y="1800522"/>
            <a:ext cx="3620798" cy="38100"/>
          </a:xfrm>
          <a:prstGeom prst="roundRect">
            <a:avLst>
              <a:gd name="adj" fmla="val 49999"/>
            </a:avLst>
          </a:prstGeom>
          <a:solidFill>
            <a:srgbClr val="1B4A9B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7C21111-3B08-1C33-E76A-303CF7F9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47" y="2038647"/>
            <a:ext cx="380990" cy="38100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15110B46-36CC-4B25-B0D7-EAA143B68764}"/>
              </a:ext>
            </a:extLst>
          </p:cNvPr>
          <p:cNvSpPr/>
          <p:nvPr/>
        </p:nvSpPr>
        <p:spPr>
          <a:xfrm>
            <a:off x="963547" y="2530772"/>
            <a:ext cx="259073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Roteamento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BE6A1CF-CF64-21E6-2FDA-B186C49FF7CE}"/>
              </a:ext>
            </a:extLst>
          </p:cNvPr>
          <p:cNvSpPr/>
          <p:nvPr/>
        </p:nvSpPr>
        <p:spPr>
          <a:xfrm>
            <a:off x="963547" y="3014563"/>
            <a:ext cx="25907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Comparar diferentes formas de escolher caminhos.</a:t>
            </a:r>
            <a:endParaRPr lang="en-US" sz="150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387B47B3-B532-B26F-DD7C-493007F7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074" y="2038647"/>
            <a:ext cx="380990" cy="381000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62F02E87-8194-2E95-7C95-D849876C31B8}"/>
              </a:ext>
            </a:extLst>
          </p:cNvPr>
          <p:cNvSpPr/>
          <p:nvPr/>
        </p:nvSpPr>
        <p:spPr>
          <a:xfrm>
            <a:off x="3859074" y="2530772"/>
            <a:ext cx="24383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Métricas</a:t>
            </a:r>
            <a:endParaRPr lang="en-US" sz="22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EC99BC1-3CF3-17F0-31BA-4C22C13ED28E}"/>
              </a:ext>
            </a:extLst>
          </p:cNvPr>
          <p:cNvSpPr/>
          <p:nvPr/>
        </p:nvSpPr>
        <p:spPr>
          <a:xfrm>
            <a:off x="3859074" y="3014563"/>
            <a:ext cx="243833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Observar latência, perda e saltos.</a:t>
            </a:r>
            <a:endParaRPr lang="en-US" sz="15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D9AA296A-225C-0945-432F-DE177912A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206" y="2038647"/>
            <a:ext cx="380990" cy="381000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3102806E-9FF4-0FD6-7EBD-EDA522F64BF3}"/>
              </a:ext>
            </a:extLst>
          </p:cNvPr>
          <p:cNvSpPr/>
          <p:nvPr/>
        </p:nvSpPr>
        <p:spPr>
          <a:xfrm>
            <a:off x="6602206" y="2530772"/>
            <a:ext cx="243833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RIP e OSPF</a:t>
            </a:r>
            <a:endParaRPr lang="en-US" sz="22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CE57815-73DA-90CD-15A6-200C06FFCDF7}"/>
              </a:ext>
            </a:extLst>
          </p:cNvPr>
          <p:cNvSpPr/>
          <p:nvPr/>
        </p:nvSpPr>
        <p:spPr>
          <a:xfrm>
            <a:off x="6602206" y="3014563"/>
            <a:ext cx="243833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Estudar protocolos existentes.</a:t>
            </a:r>
            <a:endParaRPr lang="en-US" sz="150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1E33FEE2-6F48-F1F9-E957-79BAD123D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337" y="2038647"/>
            <a:ext cx="380990" cy="381000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3D6002CB-444D-5B8E-CB44-E212A5EEB0C2}"/>
              </a:ext>
            </a:extLst>
          </p:cNvPr>
          <p:cNvSpPr/>
          <p:nvPr/>
        </p:nvSpPr>
        <p:spPr>
          <a:xfrm>
            <a:off x="9345337" y="2530772"/>
            <a:ext cx="259073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Algoritmo híbrido</a:t>
            </a:r>
            <a:endParaRPr lang="en-US" sz="22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5FD6F830-474D-3269-93A8-CE0964AE1681}"/>
              </a:ext>
            </a:extLst>
          </p:cNvPr>
          <p:cNvSpPr/>
          <p:nvPr/>
        </p:nvSpPr>
        <p:spPr>
          <a:xfrm>
            <a:off x="9345337" y="3014563"/>
            <a:ext cx="25907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Combinar os conceitos em uma nova abordagem.</a:t>
            </a:r>
            <a:endParaRPr lang="en-US" sz="15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CF771EE3-5D95-2800-DEB6-2C14A405CCF3}"/>
              </a:ext>
            </a:extLst>
          </p:cNvPr>
          <p:cNvSpPr/>
          <p:nvPr/>
        </p:nvSpPr>
        <p:spPr>
          <a:xfrm>
            <a:off x="3700328" y="2038647"/>
            <a:ext cx="12700" cy="3369965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659A9D48-8B4D-7C37-3A87-41663783EE47}"/>
              </a:ext>
            </a:extLst>
          </p:cNvPr>
          <p:cNvSpPr/>
          <p:nvPr/>
        </p:nvSpPr>
        <p:spPr>
          <a:xfrm>
            <a:off x="6443460" y="2038647"/>
            <a:ext cx="12700" cy="3369965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CAEA01C2-5DB5-22E0-CF2F-273CBE20E661}"/>
              </a:ext>
            </a:extLst>
          </p:cNvPr>
          <p:cNvSpPr/>
          <p:nvPr/>
        </p:nvSpPr>
        <p:spPr>
          <a:xfrm>
            <a:off x="9186591" y="2038647"/>
            <a:ext cx="12700" cy="3369965"/>
          </a:xfrm>
          <a:prstGeom prst="rect">
            <a:avLst/>
          </a:prstGeom>
          <a:solidFill>
            <a:srgbClr val="1B4A9B"/>
          </a:solidFill>
          <a:ln/>
        </p:spPr>
      </p:sp>
    </p:spTree>
    <p:extLst>
      <p:ext uri="{BB962C8B-B14F-4D97-AF65-F5344CB8AC3E}">
        <p14:creationId xmlns:p14="http://schemas.microsoft.com/office/powerpoint/2010/main" val="2908936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07192224-E4CC-7E77-70EA-B033B3791393}"/>
              </a:ext>
            </a:extLst>
          </p:cNvPr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RIP x OSPF</a:t>
            </a:r>
            <a:endParaRPr lang="en-US" sz="44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3A366F4-7373-E853-6EF7-721A8E559F63}"/>
              </a:ext>
            </a:extLst>
          </p:cNvPr>
          <p:cNvSpPr/>
          <p:nvPr/>
        </p:nvSpPr>
        <p:spPr>
          <a:xfrm>
            <a:off x="609585" y="2097385"/>
            <a:ext cx="5333867" cy="2665016"/>
          </a:xfrm>
          <a:prstGeom prst="rect">
            <a:avLst/>
          </a:prstGeom>
          <a:solidFill>
            <a:srgbClr val="E6EEFB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A462C1B2-1696-58B1-0AE5-8DC4F19CA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78" y="2325985"/>
            <a:ext cx="380990" cy="38100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E16169A1-2914-3AE3-AC30-F4B9643297CF}"/>
              </a:ext>
            </a:extLst>
          </p:cNvPr>
          <p:cNvSpPr/>
          <p:nvPr/>
        </p:nvSpPr>
        <p:spPr>
          <a:xfrm>
            <a:off x="863578" y="2818110"/>
            <a:ext cx="482587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Vetor de distância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6A2DBFF-653A-EF4D-91CC-8F994EF95853}"/>
              </a:ext>
            </a:extLst>
          </p:cNvPr>
          <p:cNvSpPr/>
          <p:nvPr/>
        </p:nvSpPr>
        <p:spPr>
          <a:xfrm>
            <a:off x="863578" y="3301901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RIP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aprende com os vizinhos e troca rotas.</a:t>
            </a:r>
            <a:endParaRPr lang="en-US" sz="150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DBE1CD7E-0EA8-E579-8778-E741B76F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78" y="3676551"/>
            <a:ext cx="4825879" cy="857250"/>
          </a:xfrm>
          <a:prstGeom prst="rect">
            <a:avLst/>
          </a:prstGeom>
        </p:spPr>
      </p:pic>
      <p:sp>
        <p:nvSpPr>
          <p:cNvPr id="17" name="Shape 6">
            <a:extLst>
              <a:ext uri="{FF2B5EF4-FFF2-40B4-BE49-F238E27FC236}">
                <a16:creationId xmlns:a16="http://schemas.microsoft.com/office/drawing/2014/main" id="{764AC026-FDA9-7E99-3AA9-AFE5B4677D6F}"/>
              </a:ext>
            </a:extLst>
          </p:cNvPr>
          <p:cNvSpPr/>
          <p:nvPr/>
        </p:nvSpPr>
        <p:spPr>
          <a:xfrm>
            <a:off x="6248244" y="2097385"/>
            <a:ext cx="5333867" cy="2665016"/>
          </a:xfrm>
          <a:prstGeom prst="rect">
            <a:avLst/>
          </a:prstGeom>
          <a:solidFill>
            <a:srgbClr val="DDEFEC"/>
          </a:solidFill>
          <a:ln/>
        </p:spPr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59F8867-ADAB-5BB0-F120-BB76883E5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37" y="2325985"/>
            <a:ext cx="380990" cy="381000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AE2FC742-D936-59FF-2AD3-DF620D5A9234}"/>
              </a:ext>
            </a:extLst>
          </p:cNvPr>
          <p:cNvSpPr/>
          <p:nvPr/>
        </p:nvSpPr>
        <p:spPr>
          <a:xfrm>
            <a:off x="6502237" y="2818110"/>
            <a:ext cx="482587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Estado de enlace</a:t>
            </a:r>
            <a:endParaRPr lang="en-US" sz="22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1CE23BD-EE57-010C-40A1-29BAD4BD0A20}"/>
              </a:ext>
            </a:extLst>
          </p:cNvPr>
          <p:cNvSpPr/>
          <p:nvPr/>
        </p:nvSpPr>
        <p:spPr>
          <a:xfrm>
            <a:off x="6502237" y="3301901"/>
            <a:ext cx="507987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OSPF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compartilha os enlaces e calcula os caminhos.</a:t>
            </a:r>
            <a:endParaRPr lang="en-US" sz="1500" dirty="0"/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D7BA59B1-EA1D-8143-A676-F32CFFAF0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237" y="3676551"/>
            <a:ext cx="4825879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6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28D6B60E-F07B-D00D-AA41-4A35287EB0EB}"/>
              </a:ext>
            </a:extLst>
          </p:cNvPr>
          <p:cNvSpPr/>
          <p:nvPr/>
        </p:nvSpPr>
        <p:spPr>
          <a:xfrm>
            <a:off x="609585" y="1668760"/>
            <a:ext cx="408929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Rede em namespaces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E8E7365-B36D-4E3B-D4EE-3CD579026E3B}"/>
              </a:ext>
            </a:extLst>
          </p:cNvPr>
          <p:cNvSpPr/>
          <p:nvPr/>
        </p:nvSpPr>
        <p:spPr>
          <a:xfrm>
            <a:off x="609585" y="2152551"/>
            <a:ext cx="4089298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Cinco roteadores virtuais: </a:t>
            </a: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r1, r2, r3, r4 e r5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Interfaces e IPv4 conectam a rede.</a:t>
            </a:r>
            <a:endParaRPr lang="en-US" sz="15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6C95FD0-64FC-EB72-0C6E-23017C489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576" y="1668760"/>
            <a:ext cx="6578535" cy="238125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3D3FA41-CD0A-D7BF-893E-31A544E65D76}"/>
              </a:ext>
            </a:extLst>
          </p:cNvPr>
          <p:cNvSpPr/>
          <p:nvPr/>
        </p:nvSpPr>
        <p:spPr>
          <a:xfrm>
            <a:off x="609585" y="2971701"/>
            <a:ext cx="54100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10.0.12.0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10.0.13.0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10.0.14.0</a:t>
            </a:r>
          </a:p>
          <a:p>
            <a:pPr>
              <a:lnSpc>
                <a:spcPct val="121000"/>
              </a:lnSpc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10.0.24.0</a:t>
            </a:r>
          </a:p>
          <a:p>
            <a:pPr>
              <a:lnSpc>
                <a:spcPct val="121000"/>
              </a:lnSpc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10.0.34.0</a:t>
            </a:r>
          </a:p>
          <a:p>
            <a:pPr>
              <a:lnSpc>
                <a:spcPct val="121000"/>
              </a:lnSpc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10.0.35.0</a:t>
            </a:r>
          </a:p>
          <a:p>
            <a:pPr>
              <a:lnSpc>
                <a:spcPct val="121000"/>
              </a:lnSpc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10.0.45.0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endParaRPr lang="en-US" sz="15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BA72D0E-4379-9A91-3C41-4EAA2F3A7452}"/>
              </a:ext>
            </a:extLst>
          </p:cNvPr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Infraestrutura virtual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16676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BB6E-9390-9995-AA84-E3184593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6443DCE2-12AA-5E47-D6D6-BD5273A2EC28}"/>
              </a:ext>
            </a:extLst>
          </p:cNvPr>
          <p:cNvSpPr/>
          <p:nvPr/>
        </p:nvSpPr>
        <p:spPr>
          <a:xfrm>
            <a:off x="609585" y="1668760"/>
            <a:ext cx="408929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 err="1"/>
              <a:t>Testando</a:t>
            </a:r>
            <a:r>
              <a:rPr lang="en-US" sz="2200" dirty="0"/>
              <a:t> a </a:t>
            </a:r>
            <a:r>
              <a:rPr lang="en-US" sz="2200" dirty="0" err="1"/>
              <a:t>tabela</a:t>
            </a:r>
            <a:r>
              <a:rPr lang="en-US" sz="2200" dirty="0"/>
              <a:t> de </a:t>
            </a:r>
            <a:r>
              <a:rPr lang="en-US" sz="2200" dirty="0" err="1"/>
              <a:t>roteamento</a:t>
            </a:r>
            <a:r>
              <a:rPr lang="en-US" sz="2200" dirty="0"/>
              <a:t> de r1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6D654E6-4991-8C05-6466-A005E2A78D41}"/>
              </a:ext>
            </a:extLst>
          </p:cNvPr>
          <p:cNvSpPr/>
          <p:nvPr/>
        </p:nvSpPr>
        <p:spPr>
          <a:xfrm>
            <a:off x="609584" y="2152551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Comando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utilizado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: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ip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netns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exec r1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ip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route show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D4EC301-30AA-97AA-1A40-AE0BA510F359}"/>
              </a:ext>
            </a:extLst>
          </p:cNvPr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RIP </a:t>
            </a:r>
            <a:r>
              <a:rPr lang="en-US" sz="4400" kern="0" spc="-22" dirty="0" err="1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na</a:t>
            </a: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 </a:t>
            </a:r>
            <a:r>
              <a:rPr lang="en-US" sz="4400" kern="0" spc="-22" dirty="0" err="1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prática</a:t>
            </a:r>
            <a:endParaRPr lang="en-US" sz="4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6D071EA4-8708-1D3C-F642-8ED2524300BE}"/>
              </a:ext>
            </a:extLst>
          </p:cNvPr>
          <p:cNvSpPr/>
          <p:nvPr/>
        </p:nvSpPr>
        <p:spPr>
          <a:xfrm>
            <a:off x="609584" y="2804617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Antes de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iniciar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o RIP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F60CCA0-E617-40B5-CFD2-CCAF1FFCD56E}"/>
              </a:ext>
            </a:extLst>
          </p:cNvPr>
          <p:cNvSpPr/>
          <p:nvPr/>
        </p:nvSpPr>
        <p:spPr>
          <a:xfrm>
            <a:off x="609583" y="4538365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Depois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de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iniciar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o RIP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03FAECD-5DB6-6BC2-877E-237C08F9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3" y="5069781"/>
            <a:ext cx="5439738" cy="142359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FE7C2C4-0A07-E77D-4638-E55A9C0D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3" y="3459510"/>
            <a:ext cx="5082765" cy="61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9D82-8703-5808-C057-1E0A1AAE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C3F51DAC-F0E6-16EF-ECD5-3E055904BF8B}"/>
              </a:ext>
            </a:extLst>
          </p:cNvPr>
          <p:cNvSpPr/>
          <p:nvPr/>
        </p:nvSpPr>
        <p:spPr>
          <a:xfrm>
            <a:off x="609585" y="1668760"/>
            <a:ext cx="408929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 err="1"/>
              <a:t>Testando</a:t>
            </a:r>
            <a:r>
              <a:rPr lang="en-US" sz="2200" dirty="0"/>
              <a:t> a </a:t>
            </a:r>
            <a:r>
              <a:rPr lang="en-US" sz="2200" dirty="0" err="1"/>
              <a:t>tabela</a:t>
            </a:r>
            <a:r>
              <a:rPr lang="en-US" sz="2200" dirty="0"/>
              <a:t> de </a:t>
            </a:r>
            <a:r>
              <a:rPr lang="en-US" sz="2200" dirty="0" err="1"/>
              <a:t>roteamento</a:t>
            </a:r>
            <a:r>
              <a:rPr lang="en-US" sz="2200" dirty="0"/>
              <a:t> de r1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E9DF9AD-7D8F-B19E-B137-9F5CC09DEE2A}"/>
              </a:ext>
            </a:extLst>
          </p:cNvPr>
          <p:cNvSpPr/>
          <p:nvPr/>
        </p:nvSpPr>
        <p:spPr>
          <a:xfrm>
            <a:off x="609584" y="2152551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Comando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utilizado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: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ip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netns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exec r1 </a:t>
            </a:r>
            <a:r>
              <a:rPr lang="en-US" sz="1500" dirty="0" err="1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ip</a:t>
            </a:r>
            <a:r>
              <a:rPr lang="en-US" sz="1500" dirty="0">
                <a:solidFill>
                  <a:srgbClr val="1A1A1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route show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9DB5BF94-29A1-724C-DDC1-CA19FCB645A1}"/>
              </a:ext>
            </a:extLst>
          </p:cNvPr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OSPF </a:t>
            </a:r>
            <a:r>
              <a:rPr lang="en-US" sz="4400" kern="0" spc="-22" dirty="0" err="1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na</a:t>
            </a: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 </a:t>
            </a:r>
            <a:r>
              <a:rPr lang="en-US" sz="4400" kern="0" spc="-22" dirty="0" err="1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prática</a:t>
            </a:r>
            <a:endParaRPr lang="en-US" sz="44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F86C32D-2A14-78A4-86FA-6F73CEE969B9}"/>
              </a:ext>
            </a:extLst>
          </p:cNvPr>
          <p:cNvSpPr/>
          <p:nvPr/>
        </p:nvSpPr>
        <p:spPr>
          <a:xfrm>
            <a:off x="609584" y="2804617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Antes de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iniciar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o OSPF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94C2DAB-9DF7-C7B3-7051-A7E43FFAC911}"/>
              </a:ext>
            </a:extLst>
          </p:cNvPr>
          <p:cNvSpPr/>
          <p:nvPr/>
        </p:nvSpPr>
        <p:spPr>
          <a:xfrm>
            <a:off x="609583" y="4018986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Depois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de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iniciar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o OSPF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4C82882-3654-2E1E-A077-10C7B5238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3" y="3236399"/>
            <a:ext cx="5082765" cy="61466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2FA9E9C-7B12-6EB4-1C36-1AA14F005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3" y="4539340"/>
            <a:ext cx="5486417" cy="218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12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725E-5730-FD3C-DEB4-7414FFD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E6D7BBC3-4CA8-F289-21D2-42622ED1231E}"/>
              </a:ext>
            </a:extLst>
          </p:cNvPr>
          <p:cNvSpPr/>
          <p:nvPr/>
        </p:nvSpPr>
        <p:spPr>
          <a:xfrm>
            <a:off x="609585" y="1668760"/>
            <a:ext cx="408929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 err="1"/>
              <a:t>Desenvolvimento</a:t>
            </a:r>
            <a:r>
              <a:rPr lang="en-US" sz="2200" dirty="0"/>
              <a:t> de um </a:t>
            </a:r>
            <a:r>
              <a:rPr lang="en-US" sz="2200" dirty="0" err="1"/>
              <a:t>algoritmo</a:t>
            </a:r>
            <a:r>
              <a:rPr lang="en-US" sz="2200" dirty="0"/>
              <a:t> </a:t>
            </a:r>
            <a:r>
              <a:rPr lang="en-US" sz="2200" dirty="0" err="1"/>
              <a:t>hibrido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8FABCE1-C77E-D16E-E25F-7AC6D9B9DE42}"/>
              </a:ext>
            </a:extLst>
          </p:cNvPr>
          <p:cNvSpPr/>
          <p:nvPr/>
        </p:nvSpPr>
        <p:spPr>
          <a:xfrm>
            <a:off x="609584" y="2152551"/>
            <a:ext cx="6086183" cy="650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750"/>
              </a:spcAft>
            </a:pP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Combinação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de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métricas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 de </a:t>
            </a:r>
            <a:r>
              <a:rPr lang="en-US" sz="1500" dirty="0" err="1">
                <a:solidFill>
                  <a:srgbClr val="1A1A1A"/>
                </a:solidFill>
                <a:latin typeface="Noto Serif Devanagari" pitchFamily="34" charset="0"/>
                <a:cs typeface="Noto Serif Devanagari" pitchFamily="34" charset="-120"/>
              </a:rPr>
              <a:t>latência</a:t>
            </a:r>
            <a:endParaRPr lang="en-US" sz="15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798D6709-437A-65D4-8966-EA3A04BFC322}"/>
              </a:ext>
            </a:extLst>
          </p:cNvPr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22" dirty="0" err="1">
                <a:solidFill>
                  <a:srgbClr val="1B4A9B"/>
                </a:solidFill>
                <a:latin typeface="Noto Serif Devanagari ExtraBold" pitchFamily="34" charset="0"/>
                <a:cs typeface="Noto Serif Devanagari ExtraBold" pitchFamily="34" charset="-120"/>
              </a:rPr>
              <a:t>Protocolos</a:t>
            </a: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cs typeface="Noto Serif Devanagari ExtraBold" pitchFamily="34" charset="-120"/>
              </a:rPr>
              <a:t> </a:t>
            </a:r>
            <a:r>
              <a:rPr lang="en-US" sz="4400" kern="0" spc="-22" dirty="0" err="1">
                <a:solidFill>
                  <a:srgbClr val="1B4A9B"/>
                </a:solidFill>
                <a:latin typeface="Noto Serif Devanagari ExtraBold" pitchFamily="34" charset="0"/>
                <a:cs typeface="Noto Serif Devanagari ExtraBold" pitchFamily="34" charset="-120"/>
              </a:rPr>
              <a:t>customizado</a:t>
            </a:r>
            <a:endParaRPr lang="en-US" sz="44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11A24D7-A366-8F2F-EC6B-7EE896EBBA9F}"/>
              </a:ext>
            </a:extLst>
          </p:cNvPr>
          <p:cNvSpPr/>
          <p:nvPr/>
        </p:nvSpPr>
        <p:spPr>
          <a:xfrm>
            <a:off x="609584" y="2771676"/>
            <a:ext cx="2738071" cy="274845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8CFE8BA-9AE3-269D-AAD7-8282F2074677}"/>
              </a:ext>
            </a:extLst>
          </p:cNvPr>
          <p:cNvSpPr/>
          <p:nvPr/>
        </p:nvSpPr>
        <p:spPr>
          <a:xfrm>
            <a:off x="761980" y="2924076"/>
            <a:ext cx="2585675" cy="20637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MÉTRICA DO ENLACE</a:t>
            </a:r>
            <a:endParaRPr lang="en-US" sz="13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85AE76B-9648-FB0F-B265-E891A57297FC}"/>
              </a:ext>
            </a:extLst>
          </p:cNvPr>
          <p:cNvSpPr/>
          <p:nvPr/>
        </p:nvSpPr>
        <p:spPr>
          <a:xfrm>
            <a:off x="761980" y="3282851"/>
            <a:ext cx="2433279" cy="5524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custo = latência_ms + 2 × perda_% + 5</a:t>
            </a:r>
            <a:endParaRPr lang="en-US" sz="15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6AAC510-96E2-B86E-6A42-F64B7B2D203D}"/>
              </a:ext>
            </a:extLst>
          </p:cNvPr>
          <p:cNvSpPr/>
          <p:nvPr/>
        </p:nvSpPr>
        <p:spPr>
          <a:xfrm>
            <a:off x="761980" y="3987701"/>
            <a:ext cx="2433279" cy="13800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latência = tempo de resposta do enlace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perda = porcentagem de pacotes perdidos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5 = penalidade fixa por enlace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6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usa o pior resultado entre as duas direções</a:t>
            </a:r>
            <a:endParaRPr lang="en-US" sz="115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095ABD8F-24F7-4613-75EC-8A66AF97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1089"/>
          <a:stretch>
            <a:fillRect/>
          </a:stretch>
        </p:blipFill>
        <p:spPr>
          <a:xfrm>
            <a:off x="4045532" y="2860393"/>
            <a:ext cx="7536579" cy="268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21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01F9AF0-698E-5F70-A3DE-F6E7E4411A15}"/>
              </a:ext>
            </a:extLst>
          </p:cNvPr>
          <p:cNvSpPr/>
          <p:nvPr/>
        </p:nvSpPr>
        <p:spPr>
          <a:xfrm>
            <a:off x="609585" y="60960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LEITURA DOS RESULTADOS</a:t>
            </a:r>
            <a:endParaRPr lang="en-US" sz="13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CADFBB0-7360-6C28-49C7-3E34CB68D218}"/>
              </a:ext>
            </a:extLst>
          </p:cNvPr>
          <p:cNvSpPr/>
          <p:nvPr/>
        </p:nvSpPr>
        <p:spPr>
          <a:xfrm>
            <a:off x="609585" y="885825"/>
            <a:ext cx="10972526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kern="0" spc="-22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Comparação dos métodos</a:t>
            </a:r>
            <a:endParaRPr lang="en-US" sz="4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BD2AC46-42CA-5FAA-B03A-7970174E385E}"/>
              </a:ext>
            </a:extLst>
          </p:cNvPr>
          <p:cNvSpPr/>
          <p:nvPr/>
        </p:nvSpPr>
        <p:spPr>
          <a:xfrm>
            <a:off x="609585" y="166876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Comparar métricas e caminhos, sem inventar números.</a:t>
            </a:r>
            <a:endParaRPr lang="en-US" sz="15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BB4CEED6-B192-A8AF-46E6-C28EEC5D3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418082"/>
              </p:ext>
            </p:extLst>
          </p:nvPr>
        </p:nvGraphicFramePr>
        <p:xfrm>
          <a:off x="609585" y="2097385"/>
          <a:ext cx="10972526" cy="3032047"/>
        </p:xfrm>
        <a:graphic>
          <a:graphicData uri="http://schemas.openxmlformats.org/drawingml/2006/table">
            <a:tbl>
              <a:tblPr/>
              <a:tblGrid>
                <a:gridCol w="1975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Aspecto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RIP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OSPF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Multi-métrica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Modelo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Vetor de distância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Estado de enlace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Grafo ponderado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Métrica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Contagem de saltos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Custo OSPF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Latência, perda e saltos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Adaptação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Simples; orientado por saltos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Robusto para redes maiores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Adapta-se à latência e à perda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Complexidade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Mais simples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Maior controle da topologia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Inclui medição e recálculo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Cenário de uso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Redes menores e simples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Redes maiores e estruturadas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Ambientes que exigem adaptação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521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303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Cascadia Code</vt:lpstr>
      <vt:lpstr>Noto Sans</vt:lpstr>
      <vt:lpstr>Noto Sans Bold</vt:lpstr>
      <vt:lpstr>Noto Sans Medium</vt:lpstr>
      <vt:lpstr>Noto Serif Devanagari</vt:lpstr>
      <vt:lpstr>Noto Serif Devanagari Bold</vt:lpstr>
      <vt:lpstr>Noto Serif Devanagari ExtraBold</vt:lpstr>
      <vt:lpstr>Tema do Office</vt:lpstr>
      <vt:lpstr>Protocolos de Roteamento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Usuário</dc:creator>
  <cp:lastModifiedBy>Usuário</cp:lastModifiedBy>
  <cp:revision>1</cp:revision>
  <dcterms:created xsi:type="dcterms:W3CDTF">2026-10-01T02:22:14Z</dcterms:created>
  <dcterms:modified xsi:type="dcterms:W3CDTF">2026-10-01T03:45:53Z</dcterms:modified>
</cp:coreProperties>
</file>